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98" r:id="rId4"/>
    <p:sldId id="293" r:id="rId5"/>
    <p:sldId id="260" r:id="rId6"/>
    <p:sldId id="261" r:id="rId7"/>
  </p:sldIdLst>
  <p:sldSz cx="18288000" cy="10287000"/>
  <p:notesSz cx="6858000" cy="9144000"/>
  <p:embeddedFontLst>
    <p:embeddedFont>
      <p:font typeface="ＭＳ Ｐゴシック" panose="020B0600070205080204" pitchFamily="34" charset="-128"/>
      <p:regular r:id="rId9"/>
    </p:embeddedFont>
    <p:embeddedFont>
      <p:font typeface="Arial Bold" panose="020B0704020202020204" pitchFamily="34" charset="0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 (MS)" panose="020B0604020202020204" charset="0"/>
      <p:regular r:id="rId13"/>
    </p:embeddedFont>
    <p:embeddedFont>
      <p:font typeface="Calibri (MS) Bold" panose="020B0604020202020204" charset="0"/>
      <p:regular r:id="rId14"/>
    </p:embeddedFont>
    <p:embeddedFont>
      <p:font typeface="Garamond Bold" panose="02020804030307010803" pitchFamily="18" charset="0"/>
      <p:bold r:id="rId15"/>
    </p:embeddedFont>
    <p:embeddedFont>
      <p:font typeface="Times New Roman Bold" panose="02020803070505020304" pitchFamily="18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1T13:31:30.4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2C857-00D1-4B64-85B2-2897A78395C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104E2-FC46-426F-8FB2-38C1931EFD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809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015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eepinsight/insightface" TargetMode="External"/><Relationship Id="rId13" Type="http://schemas.openxmlformats.org/officeDocument/2006/relationships/image" Target="../media/image6.jpeg"/><Relationship Id="rId3" Type="http://schemas.openxmlformats.org/officeDocument/2006/relationships/image" Target="../media/image3.jpeg"/><Relationship Id="rId7" Type="http://schemas.openxmlformats.org/officeDocument/2006/relationships/hyperlink" Target="https://arxiv.org/abs/2110.06864" TargetMode="External"/><Relationship Id="rId12" Type="http://schemas.openxmlformats.org/officeDocument/2006/relationships/hyperlink" Target="https://csrc.nist.gov/pubs/sp/800/207/final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ultralytics.com" TargetMode="External"/><Relationship Id="rId11" Type="http://schemas.openxmlformats.org/officeDocument/2006/relationships/hyperlink" Target="https://github.com/PaddlePaddle/PaddleOCR" TargetMode="External"/><Relationship Id="rId5" Type="http://schemas.openxmlformats.org/officeDocument/2006/relationships/image" Target="../media/image13.svg"/><Relationship Id="rId10" Type="http://schemas.openxmlformats.org/officeDocument/2006/relationships/hyperlink" Target="https://faiss.ai" TargetMode="External"/><Relationship Id="rId4" Type="http://schemas.openxmlformats.org/officeDocument/2006/relationships/image" Target="../media/image12.png"/><Relationship Id="rId9" Type="http://schemas.openxmlformats.org/officeDocument/2006/relationships/hyperlink" Target="https://arxiv.org/abs/1801.0769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2333" y="2922299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1294409"/>
            <a:ext cx="12402007" cy="70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Team: </a:t>
            </a:r>
            <a:r>
              <a:rPr lang="en-US" sz="48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TerraVision</a:t>
            </a:r>
            <a:endParaRPr lang="en-US" sz="48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2627538"/>
            <a:chOff x="0" y="0"/>
            <a:chExt cx="20726400" cy="35033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3503390"/>
            </a:xfrm>
            <a:custGeom>
              <a:avLst/>
              <a:gdLst/>
              <a:ahLst/>
              <a:cxnLst/>
              <a:rect l="l" t="t" r="r" b="b"/>
              <a:pathLst>
                <a:path w="20726400" h="3503390">
                  <a:moveTo>
                    <a:pt x="0" y="0"/>
                  </a:moveTo>
                  <a:lnTo>
                    <a:pt x="20726400" y="0"/>
                  </a:lnTo>
                  <a:lnTo>
                    <a:pt x="20726400" y="3503390"/>
                  </a:lnTo>
                  <a:lnTo>
                    <a:pt x="0" y="35033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275" b="-65275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3522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34537" y="1567605"/>
            <a:ext cx="9681410" cy="7669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 dirty="0"/>
          </a:p>
          <a:p>
            <a:pPr algn="l">
              <a:lnSpc>
                <a:spcPts val="4320"/>
              </a:lnSpc>
            </a:pPr>
            <a:endParaRPr dirty="0"/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600" b="1" dirty="0">
                <a:solidFill>
                  <a:srgbClr val="0D0D0D"/>
                </a:solidFill>
                <a:latin typeface="Arial Bold"/>
                <a:ea typeface="Arial Bold"/>
                <a:cs typeface="Arial Bold"/>
                <a:sym typeface="Arial Bold"/>
              </a:rPr>
              <a:t>SIH26187</a:t>
            </a:r>
          </a:p>
          <a:p>
            <a:pPr marL="651510" lvl="1" indent="-325755" algn="just">
              <a:lnSpc>
                <a:spcPts val="432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 Title- </a:t>
            </a:r>
            <a:r>
              <a:rPr lang="en-US" sz="3600" dirty="0">
                <a:solidFill>
                  <a:srgbClr val="0D0D0D"/>
                </a:solidFill>
                <a:latin typeface="Calibri (MS)"/>
                <a:ea typeface="Calibri (MS)"/>
                <a:cs typeface="Calibri (MS)"/>
                <a:sym typeface="Calibri (MS)"/>
              </a:rPr>
              <a:t>AI-Based Intelligent Video Analytics Platform for Border Surveillance.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600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Blockchain &amp; Cybersecurity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600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36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TerraVision</a:t>
            </a:r>
            <a:endParaRPr lang="en-US" sz="3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46900" y="9520237"/>
            <a:ext cx="4831401" cy="573883"/>
            <a:chOff x="-33867" y="-19050"/>
            <a:chExt cx="6441868" cy="765176"/>
          </a:xfrm>
        </p:grpSpPr>
        <p:sp>
          <p:nvSpPr>
            <p:cNvPr id="12" name="Freeform 12"/>
            <p:cNvSpPr/>
            <p:nvPr/>
          </p:nvSpPr>
          <p:spPr>
            <a:xfrm>
              <a:off x="-33867" y="15876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@SIH2026-TerraVision</a:t>
              </a:r>
              <a:r>
                <a:rPr lang="en-US" sz="1800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935199" y="-3727"/>
            <a:ext cx="3085673" cy="1410178"/>
            <a:chOff x="0" y="0"/>
            <a:chExt cx="4499699" cy="21246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FF6D0502-DC51-9106-D116-B023762626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11" b="9440"/>
          <a:stretch>
            <a:fillRect/>
          </a:stretch>
        </p:blipFill>
        <p:spPr>
          <a:xfrm>
            <a:off x="152399" y="1406476"/>
            <a:ext cx="17868501" cy="81256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C98AA0D-F323-1247-2D2B-4E2ABB3993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8" b="20758"/>
          <a:stretch>
            <a:fillRect/>
          </a:stretch>
        </p:blipFill>
        <p:spPr>
          <a:xfrm>
            <a:off x="0" y="12700"/>
            <a:ext cx="3085699" cy="15620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2B3B31-CBEC-0E4A-93CC-6B7F1FB1A4CA}"/>
              </a:ext>
            </a:extLst>
          </p:cNvPr>
          <p:cNvSpPr txBox="1"/>
          <p:nvPr/>
        </p:nvSpPr>
        <p:spPr>
          <a:xfrm>
            <a:off x="3276600" y="114300"/>
            <a:ext cx="11125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Border Video Analytics Platform (IBVAP)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3A310C2-EE07-8748-AD8E-D06399C20E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9"/>
          <a:stretch>
            <a:fillRect/>
          </a:stretch>
        </p:blipFill>
        <p:spPr>
          <a:xfrm>
            <a:off x="0" y="1574799"/>
            <a:ext cx="18287999" cy="86992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F44178-8EDF-E714-B276-E1ED68C51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CCE667D-1388-AA00-3B60-5FCDAD12E8F2}"/>
                  </a:ext>
                </a:extLst>
              </p14:cNvPr>
              <p14:cNvContentPartPr/>
              <p14:nvPr/>
            </p14:nvContentPartPr>
            <p14:xfrm>
              <a:off x="6572025" y="6892245"/>
              <a:ext cx="540" cy="5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CCE667D-1388-AA00-3B60-5FCDAD12E8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45025" y="6865245"/>
                <a:ext cx="54000" cy="540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817ED5E-67A9-CE92-F06E-0E1AFBB271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15" t="19112" r="4518" b="22814"/>
          <a:stretch>
            <a:fillRect/>
          </a:stretch>
        </p:blipFill>
        <p:spPr>
          <a:xfrm>
            <a:off x="304800" y="35642"/>
            <a:ext cx="3783417" cy="161544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7479FCB-0802-C51B-58C9-9A18A6FE38B4}"/>
              </a:ext>
            </a:extLst>
          </p:cNvPr>
          <p:cNvSpPr/>
          <p:nvPr/>
        </p:nvSpPr>
        <p:spPr>
          <a:xfrm>
            <a:off x="5227320" y="243840"/>
            <a:ext cx="7587900" cy="11849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7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F2290C-F9B7-414E-FB68-BEA076D1C2A4}"/>
              </a:ext>
            </a:extLst>
          </p:cNvPr>
          <p:cNvSpPr txBox="1"/>
          <p:nvPr/>
        </p:nvSpPr>
        <p:spPr>
          <a:xfrm>
            <a:off x="4823595" y="351561"/>
            <a:ext cx="8640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APPROACH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3D9181-3D16-7B04-6F91-24A746E0E019}"/>
              </a:ext>
            </a:extLst>
          </p:cNvPr>
          <p:cNvSpPr/>
          <p:nvPr/>
        </p:nvSpPr>
        <p:spPr>
          <a:xfrm>
            <a:off x="15087600" y="1"/>
            <a:ext cx="3017520" cy="15935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7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1368AF2-C958-301D-A3D5-FA790B21779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0345" y="-1"/>
            <a:ext cx="3374775" cy="15935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59A49A5-4F4A-C0D5-D5AE-A0F26A97F2E5}"/>
              </a:ext>
            </a:extLst>
          </p:cNvPr>
          <p:cNvSpPr txBox="1"/>
          <p:nvPr/>
        </p:nvSpPr>
        <p:spPr>
          <a:xfrm>
            <a:off x="17876520" y="9894586"/>
            <a:ext cx="350520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75" dirty="0">
                <a:solidFill>
                  <a:schemeClr val="bg1"/>
                </a:solidFill>
              </a:rPr>
              <a:t>3</a:t>
            </a:r>
            <a:endParaRPr lang="en-IN" sz="1575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730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9532143"/>
            <a:ext cx="18287999" cy="75485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defTabSz="685800">
              <a:defRPr/>
            </a:pPr>
            <a:endParaRPr lang="en-US" sz="2700" dirty="0">
              <a:solidFill>
                <a:srgbClr val="C0504D">
                  <a:lumMod val="75000"/>
                </a:srgbClr>
              </a:solidFill>
              <a:latin typeface="Calibri"/>
              <a:ea typeface="ＭＳ Ｐゴシック" pitchFamily="1" charset="-128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95301" y="-454464"/>
            <a:ext cx="16812986" cy="2171214"/>
          </a:xfrm>
        </p:spPr>
        <p:txBody>
          <a:bodyPr/>
          <a:lstStyle/>
          <a:p>
            <a:pPr eaLnBrk="1" hangingPunct="1"/>
            <a:r>
              <a:rPr lang="en-US" sz="5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41086" y="9608218"/>
            <a:ext cx="4267200" cy="547688"/>
          </a:xfrm>
        </p:spPr>
        <p:txBody>
          <a:bodyPr/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defRPr/>
            </a:pPr>
            <a:fld id="{677C3CE7-23F7-4828-823C-E0205DF2CF97}" type="slidenum">
              <a:rPr lang="en-US" sz="1800" b="1">
                <a:solidFill>
                  <a:prstClr val="white"/>
                </a:solidFill>
                <a:latin typeface="TradeGothic" pitchFamily="1" charset="0"/>
                <a:ea typeface="ＭＳ Ｐゴシック" pitchFamily="1" charset="-128"/>
              </a:rPr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z="1800" b="1" dirty="0">
              <a:solidFill>
                <a:prstClr val="white"/>
              </a:solidFill>
              <a:latin typeface="TradeGothic" pitchFamily="1" charset="0"/>
              <a:ea typeface="ＭＳ Ｐゴシック" pitchFamily="1" charset="-128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6906986" y="9608218"/>
            <a:ext cx="4806000" cy="547688"/>
          </a:xfrm>
        </p:spPr>
        <p:txBody>
          <a:bodyPr/>
          <a:lstStyle/>
          <a:p>
            <a:pPr defTabSz="685800">
              <a:defRPr/>
            </a:pPr>
            <a:r>
              <a:rPr lang="en-US" sz="1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@SIH2026-TerraVision</a:t>
            </a:r>
            <a:endParaRPr lang="en-US" sz="1800" dirty="0">
              <a:solidFill>
                <a:prstClr val="white"/>
              </a:solidFill>
              <a:latin typeface="TradeGothic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4815" y="75938"/>
            <a:ext cx="3374775" cy="159350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15975F6-958B-936D-8B1D-7C2297822445}"/>
              </a:ext>
            </a:extLst>
          </p:cNvPr>
          <p:cNvSpPr txBox="1"/>
          <p:nvPr/>
        </p:nvSpPr>
        <p:spPr>
          <a:xfrm>
            <a:off x="718457" y="1608575"/>
            <a:ext cx="4155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70C0"/>
                </a:solidFill>
              </a:rPr>
              <a:t>Feasibility</a:t>
            </a:r>
            <a:endParaRPr lang="en-IN" sz="3000" b="1" dirty="0">
              <a:solidFill>
                <a:srgbClr val="0070C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F71502-F48E-8B4C-84E4-C3D0654A6015}"/>
              </a:ext>
            </a:extLst>
          </p:cNvPr>
          <p:cNvSpPr txBox="1"/>
          <p:nvPr/>
        </p:nvSpPr>
        <p:spPr>
          <a:xfrm>
            <a:off x="849086" y="4783304"/>
            <a:ext cx="5339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7030A0"/>
                </a:solidFill>
              </a:rPr>
              <a:t>Strategies</a:t>
            </a:r>
            <a:endParaRPr lang="en-IN" sz="2700" b="1" dirty="0">
              <a:solidFill>
                <a:srgbClr val="7030A0"/>
              </a:solidFill>
            </a:endParaRPr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AFA6E7F0-BE8E-A160-2C20-3CF8E2AA3CA1}"/>
              </a:ext>
            </a:extLst>
          </p:cNvPr>
          <p:cNvSpPr/>
          <p:nvPr/>
        </p:nvSpPr>
        <p:spPr>
          <a:xfrm>
            <a:off x="359228" y="2456582"/>
            <a:ext cx="10809516" cy="2171214"/>
          </a:xfrm>
          <a:prstGeom prst="flowChartAlternateProcess">
            <a:avLst/>
          </a:prstGeom>
          <a:ln/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700" dirty="0">
                <a:solidFill>
                  <a:schemeClr val="tx1"/>
                </a:solidFill>
              </a:rPr>
              <a:t>All models (YOLOv8, </a:t>
            </a:r>
            <a:r>
              <a:rPr lang="en-IN" sz="2700" dirty="0" err="1">
                <a:solidFill>
                  <a:schemeClr val="tx1"/>
                </a:solidFill>
              </a:rPr>
              <a:t>ByteTrack</a:t>
            </a:r>
            <a:r>
              <a:rPr lang="en-IN" sz="2700" dirty="0">
                <a:solidFill>
                  <a:schemeClr val="tx1"/>
                </a:solidFill>
              </a:rPr>
              <a:t>, </a:t>
            </a:r>
            <a:r>
              <a:rPr lang="en-IN" sz="2700" dirty="0" err="1">
                <a:solidFill>
                  <a:schemeClr val="tx1"/>
                </a:solidFill>
              </a:rPr>
              <a:t>ArcFace</a:t>
            </a:r>
            <a:r>
              <a:rPr lang="en-IN" sz="2700" dirty="0">
                <a:solidFill>
                  <a:schemeClr val="tx1"/>
                </a:solidFill>
              </a:rPr>
              <a:t>, </a:t>
            </a:r>
            <a:r>
              <a:rPr lang="en-IN" sz="2700" dirty="0" err="1">
                <a:solidFill>
                  <a:schemeClr val="tx1"/>
                </a:solidFill>
              </a:rPr>
              <a:t>PaddleOCR</a:t>
            </a:r>
            <a:r>
              <a:rPr lang="en-IN" sz="2700" dirty="0">
                <a:solidFill>
                  <a:schemeClr val="tx1"/>
                </a:solidFill>
              </a:rPr>
              <a:t>) are proven, production-grade - not experimental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700" dirty="0">
                <a:solidFill>
                  <a:schemeClr val="tx1"/>
                </a:solidFill>
              </a:rPr>
              <a:t>Works on existing cameras  no new hardware needed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700" dirty="0">
                <a:solidFill>
                  <a:schemeClr val="tx1"/>
                </a:solidFill>
              </a:rPr>
              <a:t>Same architecture scales edge → sector/regional → central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2A467A3-3122-08F6-4BAC-2EAF6B6697FB}"/>
              </a:ext>
            </a:extLst>
          </p:cNvPr>
          <p:cNvSpPr/>
          <p:nvPr/>
        </p:nvSpPr>
        <p:spPr>
          <a:xfrm>
            <a:off x="359228" y="5727466"/>
            <a:ext cx="11021787" cy="3002838"/>
          </a:xfrm>
          <a:prstGeom prst="roundRect">
            <a:avLst/>
          </a:prstGeom>
          <a:ln/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700" dirty="0">
                <a:solidFill>
                  <a:srgbClr val="090909"/>
                </a:solidFill>
              </a:rPr>
              <a:t>Each tier (edge, sector, central) works </a:t>
            </a:r>
            <a:r>
              <a:rPr lang="en-IN" sz="2700" b="1" dirty="0">
                <a:solidFill>
                  <a:srgbClr val="090909"/>
                </a:solidFill>
              </a:rPr>
              <a:t>Independently,</a:t>
            </a:r>
            <a:r>
              <a:rPr lang="en-IN" sz="2700" dirty="0">
                <a:solidFill>
                  <a:srgbClr val="090909"/>
                </a:solidFill>
              </a:rPr>
              <a:t> so one failure doesn't cascade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700" b="1" dirty="0">
                <a:solidFill>
                  <a:srgbClr val="090909"/>
                </a:solidFill>
              </a:rPr>
              <a:t>Virtual fencing </a:t>
            </a:r>
            <a:r>
              <a:rPr lang="en-IN" sz="2700" dirty="0">
                <a:solidFill>
                  <a:srgbClr val="090909"/>
                </a:solidFill>
              </a:rPr>
              <a:t>= geometry check on existing detections  zero extra AI cost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700" dirty="0">
                <a:solidFill>
                  <a:srgbClr val="090909"/>
                </a:solidFill>
              </a:rPr>
              <a:t>Scaling just means adding edge nodes, not </a:t>
            </a:r>
            <a:r>
              <a:rPr lang="en-IN" sz="2700" b="1" dirty="0">
                <a:solidFill>
                  <a:srgbClr val="090909"/>
                </a:solidFill>
              </a:rPr>
              <a:t>Redesigning </a:t>
            </a:r>
            <a:r>
              <a:rPr lang="en-IN" sz="2700" dirty="0">
                <a:solidFill>
                  <a:srgbClr val="090909"/>
                </a:solidFill>
              </a:rPr>
              <a:t>the system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51A1EF5-9161-26A3-7B33-ECC68F7C427E}"/>
              </a:ext>
            </a:extLst>
          </p:cNvPr>
          <p:cNvSpPr/>
          <p:nvPr/>
        </p:nvSpPr>
        <p:spPr>
          <a:xfrm>
            <a:off x="12025992" y="2235828"/>
            <a:ext cx="5992587" cy="4346406"/>
          </a:xfrm>
          <a:prstGeom prst="roundRect">
            <a:avLst/>
          </a:prstGeom>
          <a:ln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700" dirty="0">
                <a:solidFill>
                  <a:schemeClr val="tx1"/>
                </a:solidFill>
              </a:rPr>
              <a:t>Border posts often run on unreliable, low-bandwidth VSAT links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700" dirty="0">
                <a:solidFill>
                  <a:schemeClr val="tx1"/>
                </a:solidFill>
              </a:rPr>
              <a:t>System must stay operational even if a central/sector server goes down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IN" sz="2700" dirty="0">
                <a:solidFill>
                  <a:schemeClr val="tx1"/>
                </a:solidFill>
              </a:rPr>
              <a:t>Zones need to be reconfigurable fast, without new hardware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C37E86-DE62-7717-826F-4FD3F751A737}"/>
              </a:ext>
            </a:extLst>
          </p:cNvPr>
          <p:cNvSpPr txBox="1"/>
          <p:nvPr/>
        </p:nvSpPr>
        <p:spPr>
          <a:xfrm>
            <a:off x="12458699" y="1370501"/>
            <a:ext cx="2530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2"/>
                </a:solidFill>
              </a:rPr>
              <a:t>Challenges</a:t>
            </a:r>
            <a:endParaRPr lang="en-IN" sz="4200" b="1" dirty="0">
              <a:solidFill>
                <a:schemeClr val="accent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62C90E-8FF9-DEAC-2839-66C7E37F7A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8" b="20758"/>
          <a:stretch>
            <a:fillRect/>
          </a:stretch>
        </p:blipFill>
        <p:spPr>
          <a:xfrm>
            <a:off x="-1" y="0"/>
            <a:ext cx="308569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16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43097" y="-71438"/>
            <a:ext cx="17130503" cy="1410386"/>
            <a:chOff x="0" y="0"/>
            <a:chExt cx="22840671" cy="18805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840672" cy="1880510"/>
            </a:xfrm>
            <a:custGeom>
              <a:avLst/>
              <a:gdLst/>
              <a:ahLst/>
              <a:cxnLst/>
              <a:rect l="l" t="t" r="r" b="b"/>
              <a:pathLst>
                <a:path w="22840672" h="1880510">
                  <a:moveTo>
                    <a:pt x="0" y="0"/>
                  </a:moveTo>
                  <a:lnTo>
                    <a:pt x="22840672" y="0"/>
                  </a:lnTo>
                  <a:lnTo>
                    <a:pt x="22840672" y="1880510"/>
                  </a:lnTo>
                  <a:lnTo>
                    <a:pt x="0" y="1880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6665" b="-18666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2840671" cy="19090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@SIH2026-TerraVision</a:t>
              </a:r>
              <a:endParaRPr lang="en-US" sz="1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6965156" y="6184831"/>
            <a:ext cx="10806884" cy="2902991"/>
            <a:chOff x="0" y="0"/>
            <a:chExt cx="14409179" cy="356593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409167" cy="3565906"/>
            </a:xfrm>
            <a:custGeom>
              <a:avLst/>
              <a:gdLst/>
              <a:ahLst/>
              <a:cxnLst/>
              <a:rect l="l" t="t" r="r" b="b"/>
              <a:pathLst>
                <a:path w="14409167" h="3565906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lnTo>
                    <a:pt x="13814806" y="0"/>
                  </a:lnTo>
                  <a:cubicBezTo>
                    <a:pt x="14143101" y="0"/>
                    <a:pt x="14409167" y="266065"/>
                    <a:pt x="14409167" y="594360"/>
                  </a:cubicBezTo>
                  <a:lnTo>
                    <a:pt x="14409167" y="2971546"/>
                  </a:lnTo>
                  <a:cubicBezTo>
                    <a:pt x="14409167" y="3299841"/>
                    <a:pt x="14143101" y="3565906"/>
                    <a:pt x="13814806" y="3565906"/>
                  </a:cubicBezTo>
                  <a:lnTo>
                    <a:pt x="594360" y="3565906"/>
                  </a:lnTo>
                  <a:cubicBezTo>
                    <a:pt x="266065" y="3565906"/>
                    <a:pt x="0" y="3299841"/>
                    <a:pt x="0" y="2971546"/>
                  </a:cubicBezTo>
                  <a:close/>
                </a:path>
              </a:pathLst>
            </a:custGeom>
            <a:solidFill>
              <a:srgbClr val="C6D9F1"/>
            </a:solidFill>
            <a:ln w="14288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4409179" cy="3623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88632" lvl="1" indent="-244316" algn="l">
                <a:lnSpc>
                  <a:spcPts val="3240"/>
                </a:lnSpc>
                <a:buFont typeface="Arial"/>
                <a:buChar char="•"/>
              </a:pP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Same architecture works from a single BOP pilot to a national deployment no redesign needed between phases, just more edge nodes</a:t>
              </a:r>
            </a:p>
            <a:p>
              <a:pPr marL="488632" lvl="1" indent="-244316" algn="l">
                <a:lnSpc>
                  <a:spcPts val="3240"/>
                </a:lnSpc>
                <a:buFont typeface="Arial"/>
                <a:buChar char="•"/>
              </a:pPr>
              <a:endParaRPr lang="en-US" sz="27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488632" lvl="1" indent="-244316" algn="l">
                <a:lnSpc>
                  <a:spcPts val="3240"/>
                </a:lnSpc>
                <a:buFont typeface="Arial"/>
                <a:buChar char="•"/>
              </a:pP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Works over VSAT/low-bandwidth links because only metadata travels upstream viable in genuinely remote terrain, not just well-connected posts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98506" y="2435066"/>
            <a:ext cx="10673534" cy="2659790"/>
            <a:chOff x="0" y="0"/>
            <a:chExt cx="14231379" cy="3546386"/>
          </a:xfrm>
        </p:grpSpPr>
        <p:sp>
          <p:nvSpPr>
            <p:cNvPr id="22" name="Freeform 22" descr="dwjdefmemfemf "/>
            <p:cNvSpPr/>
            <p:nvPr/>
          </p:nvSpPr>
          <p:spPr>
            <a:xfrm>
              <a:off x="0" y="0"/>
              <a:ext cx="14231365" cy="3546348"/>
            </a:xfrm>
            <a:custGeom>
              <a:avLst/>
              <a:gdLst/>
              <a:ahLst/>
              <a:cxnLst/>
              <a:rect l="l" t="t" r="r" b="b"/>
              <a:pathLst>
                <a:path w="14231365" h="3546348">
                  <a:moveTo>
                    <a:pt x="0" y="0"/>
                  </a:moveTo>
                  <a:lnTo>
                    <a:pt x="14231365" y="0"/>
                  </a:lnTo>
                  <a:lnTo>
                    <a:pt x="14231365" y="3546348"/>
                  </a:lnTo>
                  <a:lnTo>
                    <a:pt x="0" y="3546348"/>
                  </a:lnTo>
                  <a:close/>
                </a:path>
              </a:pathLst>
            </a:custGeom>
            <a:solidFill>
              <a:srgbClr val="C3D69B"/>
            </a:solidFill>
            <a:ln w="14288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4231379" cy="3603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Social:</a:t>
              </a: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Strengthens border security and builds public trust in surveillance governance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Economic:</a:t>
              </a: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Reuses existing camera infrastructure avoids cost of proprietary FRS/ANPR hardware</a:t>
              </a:r>
            </a:p>
            <a:p>
              <a:pPr algn="l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Security:</a:t>
              </a:r>
              <a:r>
                <a:rPr lang="en-US" sz="27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Tamper-proof blockchain evidence trail supports forensic and legal accountability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197090" y="5357260"/>
            <a:ext cx="9186986" cy="616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0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Scalability Implementation Plan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97090" y="1374467"/>
            <a:ext cx="3169920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4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Benefits</a:t>
            </a:r>
            <a:endParaRPr lang="en-US" sz="42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61820" y="2214485"/>
            <a:ext cx="6315180" cy="7098288"/>
            <a:chOff x="0" y="0"/>
            <a:chExt cx="8219605" cy="96331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219567" cy="9633204"/>
            </a:xfrm>
            <a:custGeom>
              <a:avLst/>
              <a:gdLst/>
              <a:ahLst/>
              <a:cxnLst/>
              <a:rect l="l" t="t" r="r" b="b"/>
              <a:pathLst>
                <a:path w="8219567" h="9633204">
                  <a:moveTo>
                    <a:pt x="0" y="1369949"/>
                  </a:moveTo>
                  <a:cubicBezTo>
                    <a:pt x="0" y="613283"/>
                    <a:pt x="613283" y="0"/>
                    <a:pt x="1369949" y="0"/>
                  </a:cubicBezTo>
                  <a:lnTo>
                    <a:pt x="6849618" y="0"/>
                  </a:lnTo>
                  <a:cubicBezTo>
                    <a:pt x="7606157" y="0"/>
                    <a:pt x="8219567" y="613283"/>
                    <a:pt x="8219567" y="1369949"/>
                  </a:cubicBezTo>
                  <a:lnTo>
                    <a:pt x="8219567" y="8263255"/>
                  </a:lnTo>
                  <a:cubicBezTo>
                    <a:pt x="8219567" y="9019794"/>
                    <a:pt x="7606285" y="9633204"/>
                    <a:pt x="6849618" y="9633204"/>
                  </a:cubicBezTo>
                  <a:lnTo>
                    <a:pt x="1369949" y="9633204"/>
                  </a:lnTo>
                  <a:cubicBezTo>
                    <a:pt x="613283" y="9633077"/>
                    <a:pt x="0" y="9019794"/>
                    <a:pt x="0" y="826325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28" name="TextBox 28"/>
          <p:cNvSpPr txBox="1"/>
          <p:nvPr/>
        </p:nvSpPr>
        <p:spPr>
          <a:xfrm>
            <a:off x="838200" y="1607828"/>
            <a:ext cx="3668401" cy="562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4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Impact</a:t>
            </a:r>
            <a:endParaRPr lang="en-US" sz="3600" b="1" dirty="0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447446" y="2764746"/>
            <a:ext cx="5644324" cy="1385007"/>
            <a:chOff x="0" y="-28620"/>
            <a:chExt cx="7216558" cy="202408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57847" cy="1966849"/>
            </a:xfrm>
            <a:custGeom>
              <a:avLst/>
              <a:gdLst/>
              <a:ahLst/>
              <a:cxnLst/>
              <a:rect l="l" t="t" r="r" b="b"/>
              <a:pathLst>
                <a:path w="7157847" h="1966849">
                  <a:moveTo>
                    <a:pt x="0" y="327787"/>
                  </a:moveTo>
                  <a:cubicBezTo>
                    <a:pt x="0" y="146812"/>
                    <a:pt x="146812" y="0"/>
                    <a:pt x="327787" y="0"/>
                  </a:cubicBezTo>
                  <a:lnTo>
                    <a:pt x="6830060" y="0"/>
                  </a:lnTo>
                  <a:cubicBezTo>
                    <a:pt x="7011162" y="0"/>
                    <a:pt x="7157847" y="146812"/>
                    <a:pt x="7157847" y="327787"/>
                  </a:cubicBezTo>
                  <a:lnTo>
                    <a:pt x="7157847" y="1639062"/>
                  </a:lnTo>
                  <a:cubicBezTo>
                    <a:pt x="7157847" y="1820164"/>
                    <a:pt x="7011035" y="1966849"/>
                    <a:pt x="6830060" y="1966849"/>
                  </a:cubicBezTo>
                  <a:lnTo>
                    <a:pt x="327787" y="1966849"/>
                  </a:lnTo>
                  <a:cubicBezTo>
                    <a:pt x="146812" y="1966976"/>
                    <a:pt x="0" y="1820164"/>
                    <a:pt x="0" y="1639062"/>
                  </a:cubicBezTo>
                  <a:close/>
                </a:path>
              </a:pathLst>
            </a:custGeom>
            <a:solidFill>
              <a:srgbClr val="C6D9F1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635" y="-28620"/>
              <a:ext cx="7157923" cy="2024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Converts passive CCTV into real-time threat detection - closes the core problem gap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47446" y="4385862"/>
            <a:ext cx="5644334" cy="1404652"/>
            <a:chOff x="0" y="0"/>
            <a:chExt cx="7525779" cy="187286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525766" cy="1872869"/>
            </a:xfrm>
            <a:custGeom>
              <a:avLst/>
              <a:gdLst/>
              <a:ahLst/>
              <a:cxnLst/>
              <a:rect l="l" t="t" r="r" b="b"/>
              <a:pathLst>
                <a:path w="7525766" h="1872869">
                  <a:moveTo>
                    <a:pt x="0" y="312166"/>
                  </a:moveTo>
                  <a:cubicBezTo>
                    <a:pt x="0" y="139700"/>
                    <a:pt x="139700" y="0"/>
                    <a:pt x="312166" y="0"/>
                  </a:cubicBezTo>
                  <a:lnTo>
                    <a:pt x="7213600" y="0"/>
                  </a:lnTo>
                  <a:cubicBezTo>
                    <a:pt x="7385939" y="0"/>
                    <a:pt x="7525766" y="139700"/>
                    <a:pt x="7525766" y="312166"/>
                  </a:cubicBezTo>
                  <a:lnTo>
                    <a:pt x="7525766" y="1560703"/>
                  </a:lnTo>
                  <a:cubicBezTo>
                    <a:pt x="7525766" y="1733042"/>
                    <a:pt x="7386066" y="1872869"/>
                    <a:pt x="7213600" y="1872869"/>
                  </a:cubicBezTo>
                  <a:lnTo>
                    <a:pt x="312166" y="1872869"/>
                  </a:lnTo>
                  <a:cubicBezTo>
                    <a:pt x="139700" y="1872869"/>
                    <a:pt x="0" y="1733169"/>
                    <a:pt x="0" y="1560703"/>
                  </a:cubicBezTo>
                  <a:close/>
                </a:path>
              </a:pathLst>
            </a:custGeom>
            <a:solidFill>
              <a:srgbClr val="FAC090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7525779" cy="1930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Cuts alert response time from minutes to milliseconds via edge-based AI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5960" y="6227693"/>
            <a:ext cx="5644324" cy="1174213"/>
            <a:chOff x="0" y="0"/>
            <a:chExt cx="7243826" cy="156561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243826" cy="1565656"/>
            </a:xfrm>
            <a:custGeom>
              <a:avLst/>
              <a:gdLst/>
              <a:ahLst/>
              <a:cxnLst/>
              <a:rect l="l" t="t" r="r" b="b"/>
              <a:pathLst>
                <a:path w="7243826" h="1565656">
                  <a:moveTo>
                    <a:pt x="0" y="260985"/>
                  </a:moveTo>
                  <a:cubicBezTo>
                    <a:pt x="0" y="116840"/>
                    <a:pt x="116840" y="0"/>
                    <a:pt x="260985" y="0"/>
                  </a:cubicBezTo>
                  <a:lnTo>
                    <a:pt x="6982841" y="0"/>
                  </a:lnTo>
                  <a:cubicBezTo>
                    <a:pt x="7126986" y="0"/>
                    <a:pt x="7243826" y="116840"/>
                    <a:pt x="7243826" y="260985"/>
                  </a:cubicBezTo>
                  <a:lnTo>
                    <a:pt x="7243826" y="1304671"/>
                  </a:lnTo>
                  <a:cubicBezTo>
                    <a:pt x="7243826" y="1448816"/>
                    <a:pt x="7126986" y="1565656"/>
                    <a:pt x="6982841" y="1565656"/>
                  </a:cubicBezTo>
                  <a:lnTo>
                    <a:pt x="260985" y="1565656"/>
                  </a:lnTo>
                  <a:cubicBezTo>
                    <a:pt x="116840" y="1565656"/>
                    <a:pt x="0" y="1448816"/>
                    <a:pt x="0" y="1304671"/>
                  </a:cubicBezTo>
                  <a:close/>
                </a:path>
              </a:pathLst>
            </a:custGeom>
            <a:solidFill>
              <a:srgbClr val="B9CDE5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7243826" cy="16227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Enables 24/7 monitoring without increasing manpower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93306" y="7669628"/>
            <a:ext cx="5666978" cy="1110720"/>
            <a:chOff x="0" y="0"/>
            <a:chExt cx="7157923" cy="14809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157974" cy="1481074"/>
            </a:xfrm>
            <a:custGeom>
              <a:avLst/>
              <a:gdLst/>
              <a:ahLst/>
              <a:cxnLst/>
              <a:rect l="l" t="t" r="r" b="b"/>
              <a:pathLst>
                <a:path w="7157974" h="1481074">
                  <a:moveTo>
                    <a:pt x="0" y="246888"/>
                  </a:moveTo>
                  <a:cubicBezTo>
                    <a:pt x="0" y="110490"/>
                    <a:pt x="110490" y="0"/>
                    <a:pt x="246888" y="0"/>
                  </a:cubicBezTo>
                  <a:lnTo>
                    <a:pt x="6911086" y="0"/>
                  </a:lnTo>
                  <a:cubicBezTo>
                    <a:pt x="7047357" y="0"/>
                    <a:pt x="7157974" y="110490"/>
                    <a:pt x="7157974" y="246888"/>
                  </a:cubicBezTo>
                  <a:lnTo>
                    <a:pt x="7157974" y="1234186"/>
                  </a:lnTo>
                  <a:cubicBezTo>
                    <a:pt x="7157974" y="1370457"/>
                    <a:pt x="7047484" y="1481074"/>
                    <a:pt x="6911086" y="1481074"/>
                  </a:cubicBezTo>
                  <a:lnTo>
                    <a:pt x="246888" y="1481074"/>
                  </a:lnTo>
                  <a:cubicBezTo>
                    <a:pt x="110490" y="1480947"/>
                    <a:pt x="0" y="1370457"/>
                    <a:pt x="0" y="1234186"/>
                  </a:cubicBezTo>
                  <a:close/>
                </a:path>
              </a:pathLst>
            </a:custGeom>
            <a:solidFill>
              <a:srgbClr val="FAC090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7157923" cy="1538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Reduces operator fatigue and error from manual screen monitoring</a:t>
              </a:r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B3931502-2E3A-0809-36DF-770C861103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8" b="20758"/>
          <a:stretch>
            <a:fillRect/>
          </a:stretch>
        </p:blipFill>
        <p:spPr>
          <a:xfrm>
            <a:off x="-1" y="0"/>
            <a:ext cx="3085699" cy="15620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6926" b="-13692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14400" y="-92869"/>
            <a:ext cx="16459200" cy="1735931"/>
            <a:chOff x="0" y="0"/>
            <a:chExt cx="21945600" cy="23145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314575"/>
            </a:xfrm>
            <a:custGeom>
              <a:avLst/>
              <a:gdLst/>
              <a:ahLst/>
              <a:cxnLst/>
              <a:rect l="l" t="t" r="r" b="b"/>
              <a:pathLst>
                <a:path w="21945600" h="2314575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747" b="-134747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707" b="-101709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3106400" y="9520238"/>
            <a:ext cx="4267200" cy="561975"/>
            <a:chOff x="0" y="0"/>
            <a:chExt cx="5689600" cy="749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89600" cy="749301"/>
            </a:xfrm>
            <a:custGeom>
              <a:avLst/>
              <a:gdLst/>
              <a:ahLst/>
              <a:cxnLst/>
              <a:rect l="l" t="t" r="r" b="b"/>
              <a:pathLst>
                <a:path w="5689600" h="749301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954" b="-9795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408039" cy="730250"/>
            </a:xfrm>
            <a:custGeom>
              <a:avLst/>
              <a:gdLst/>
              <a:ahLst/>
              <a:cxnLst/>
              <a:rect l="l" t="t" r="r" b="b"/>
              <a:pathLst>
                <a:path w="6408039" h="730250">
                  <a:moveTo>
                    <a:pt x="0" y="0"/>
                  </a:moveTo>
                  <a:lnTo>
                    <a:pt x="6408039" y="0"/>
                  </a:lnTo>
                  <a:lnTo>
                    <a:pt x="6408039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864" b="-120862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6972300" y="9520238"/>
            <a:ext cx="4806001" cy="561975"/>
            <a:chOff x="0" y="0"/>
            <a:chExt cx="6408001" cy="7493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08001" cy="749301"/>
            </a:xfrm>
            <a:custGeom>
              <a:avLst/>
              <a:gdLst/>
              <a:ahLst/>
              <a:cxnLst/>
              <a:rect l="l" t="t" r="r" b="b"/>
              <a:pathLst>
                <a:path w="6408001" h="749301">
                  <a:moveTo>
                    <a:pt x="0" y="0"/>
                  </a:moveTo>
                  <a:lnTo>
                    <a:pt x="6408001" y="0"/>
                  </a:lnTo>
                  <a:lnTo>
                    <a:pt x="6408001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6635" b="-116635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408001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@SIH2026-TerraVision</a:t>
              </a:r>
              <a:endParaRPr lang="en-US" sz="1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670129" y="2248"/>
            <a:ext cx="3374803" cy="1593532"/>
            <a:chOff x="0" y="0"/>
            <a:chExt cx="4499737" cy="212471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2" b="-21"/>
              </a:stretch>
            </a:blipFill>
          </p:spPr>
        </p:sp>
      </p:grpSp>
      <p:sp>
        <p:nvSpPr>
          <p:cNvPr id="21" name="Freeform 21" descr="Your startup LOGO"/>
          <p:cNvSpPr/>
          <p:nvPr/>
        </p:nvSpPr>
        <p:spPr>
          <a:xfrm>
            <a:off x="131207" y="127349"/>
            <a:ext cx="2831402" cy="915638"/>
          </a:xfrm>
          <a:custGeom>
            <a:avLst/>
            <a:gdLst/>
            <a:ahLst/>
            <a:cxnLst/>
            <a:rect l="l" t="t" r="r" b="b"/>
            <a:pathLst>
              <a:path w="2831402" h="915638">
                <a:moveTo>
                  <a:pt x="0" y="0"/>
                </a:moveTo>
                <a:lnTo>
                  <a:pt x="2831401" y="0"/>
                </a:lnTo>
                <a:lnTo>
                  <a:pt x="2831401" y="915639"/>
                </a:lnTo>
                <a:lnTo>
                  <a:pt x="0" y="915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143000" y="1701257"/>
            <a:ext cx="448056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Object Detection &amp; Tracking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33556" y="2610314"/>
            <a:ext cx="5369834" cy="885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6311" lvl="1" indent="-263156" algn="just">
              <a:lnSpc>
                <a:spcPts val="3489"/>
              </a:lnSpc>
              <a:buFont typeface="Arial"/>
              <a:buChar char="•"/>
            </a:pPr>
            <a:r>
              <a:rPr lang="en-US" sz="2908" u="sng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 tooltip="https://docs.ultralytics.com"/>
              </a:rPr>
              <a:t>Ultralytics</a:t>
            </a:r>
            <a:r>
              <a:rPr lang="en-US" sz="2908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 tooltip="https://docs.ultralytics.com"/>
              </a:rPr>
              <a:t> YOLO</a:t>
            </a:r>
          </a:p>
          <a:p>
            <a:pPr marL="526311" lvl="1" indent="-263156" algn="just">
              <a:lnSpc>
                <a:spcPts val="3489"/>
              </a:lnSpc>
              <a:buFont typeface="Arial"/>
              <a:buChar char="•"/>
            </a:pPr>
            <a:r>
              <a:rPr lang="en-US" sz="2908" u="sng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 tooltip="https://arxiv.org/abs/2110.06864"/>
              </a:rPr>
              <a:t>ByteTrack</a:t>
            </a:r>
            <a:r>
              <a:rPr lang="en-US" sz="2908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 tooltip="https://arxiv.org/abs/2110.06864"/>
              </a:rPr>
              <a:t> Tracking Algorithm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7903" y="3918695"/>
            <a:ext cx="4290758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Face Analysis &amp; Biometrics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3000" y="4691403"/>
            <a:ext cx="5370644" cy="1323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6311" lvl="1" indent="-263156" algn="just">
              <a:lnSpc>
                <a:spcPts val="3489"/>
              </a:lnSpc>
              <a:buFont typeface="Arial"/>
              <a:buChar char="•"/>
            </a:pPr>
            <a:r>
              <a:rPr lang="en-US" sz="2908" u="sng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 tooltip="https://github.com/deepinsight/insightface"/>
              </a:rPr>
              <a:t>InsightFace</a:t>
            </a:r>
            <a:r>
              <a:rPr lang="en-US" sz="2908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 tooltip="https://github.com/deepinsight/insightface"/>
              </a:rPr>
              <a:t> Framework</a:t>
            </a:r>
          </a:p>
          <a:p>
            <a:pPr marL="526311" lvl="1" indent="-263156" algn="just">
              <a:lnSpc>
                <a:spcPts val="3489"/>
              </a:lnSpc>
              <a:buFont typeface="Arial"/>
              <a:buChar char="•"/>
            </a:pPr>
            <a:r>
              <a:rPr lang="en-US" sz="2908" u="sng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 tooltip="https://arxiv.org/abs/1801.07698"/>
              </a:rPr>
              <a:t>ArcFace</a:t>
            </a:r>
            <a:r>
              <a:rPr lang="en-US" sz="2908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9" tooltip="https://arxiv.org/abs/1801.07698"/>
              </a:rPr>
              <a:t> Embedding Mode</a:t>
            </a:r>
            <a:r>
              <a:rPr lang="en-US" sz="2908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</a:p>
          <a:p>
            <a:pPr marL="526311" lvl="1" indent="-263156" algn="just">
              <a:lnSpc>
                <a:spcPts val="3489"/>
              </a:lnSpc>
              <a:buFont typeface="Arial"/>
              <a:buChar char="•"/>
            </a:pPr>
            <a:r>
              <a:rPr lang="en-US" sz="2908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0" tooltip="https://faiss.ai"/>
              </a:rPr>
              <a:t>Meta FAISS Vector Database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84120" y="2055717"/>
            <a:ext cx="618836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Text &amp; License Plate Recognition (ANPR)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839200" y="2477992"/>
            <a:ext cx="3687354" cy="44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6311" lvl="1" indent="-263156" algn="just">
              <a:lnSpc>
                <a:spcPts val="3489"/>
              </a:lnSpc>
              <a:buFont typeface="Arial"/>
              <a:buChar char="•"/>
            </a:pPr>
            <a:r>
              <a:rPr lang="en-US" sz="2908" u="sng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1" tooltip="https://github.com/PaddlePaddle/PaddleOCR"/>
              </a:rPr>
              <a:t>PaddleOCR</a:t>
            </a:r>
            <a:r>
              <a:rPr lang="en-US" sz="2908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1" tooltip="https://github.com/PaddlePaddle/PaddleOCR"/>
              </a:rPr>
              <a:t> Toolkit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05800" y="3868479"/>
            <a:ext cx="7460249" cy="466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🔒 Network Security &amp; Communication Architecture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51639" y="4849485"/>
            <a:ext cx="5246380" cy="447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6311" lvl="1" indent="-263156" algn="just">
              <a:lnSpc>
                <a:spcPts val="3489"/>
              </a:lnSpc>
              <a:buFont typeface="Arial"/>
              <a:buChar char="•"/>
            </a:pPr>
            <a:r>
              <a:rPr lang="en-US" sz="2908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12" tooltip="https://csrc.nist.gov/pubs/sp/800/207/final"/>
              </a:rPr>
              <a:t>NIST Zero Trust Architecture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A702915-9781-D628-4374-D8322198AF4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8" b="20758"/>
          <a:stretch>
            <a:fillRect/>
          </a:stretch>
        </p:blipFill>
        <p:spPr>
          <a:xfrm>
            <a:off x="-1" y="0"/>
            <a:ext cx="3085699" cy="15620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355</Words>
  <Application>Microsoft Office PowerPoint</Application>
  <PresentationFormat>Custom</PresentationFormat>
  <Paragraphs>61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Arimo</vt:lpstr>
      <vt:lpstr>Arial Bold</vt:lpstr>
      <vt:lpstr>Calibri</vt:lpstr>
      <vt:lpstr>Times New Roman Bold</vt:lpstr>
      <vt:lpstr>Arimo Bold</vt:lpstr>
      <vt:lpstr>Times New Roman</vt:lpstr>
      <vt:lpstr>Calibri (MS) Bold</vt:lpstr>
      <vt:lpstr>ＭＳ Ｐゴシック</vt:lpstr>
      <vt:lpstr>Arial</vt:lpstr>
      <vt:lpstr>Calibri (MS)</vt:lpstr>
      <vt:lpstr>TradeGothic</vt:lpstr>
      <vt:lpstr>Garamond Bold</vt:lpstr>
      <vt:lpstr>Office Theme</vt:lpstr>
      <vt:lpstr>PowerPoint Presentation</vt:lpstr>
      <vt:lpstr>PowerPoint Presentation</vt:lpstr>
      <vt:lpstr>PowerPoint Presentation</vt:lpstr>
      <vt:lpstr>FEASIBILITY AND VIABILITY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Chirag Gupta</cp:lastModifiedBy>
  <cp:revision>4</cp:revision>
  <dcterms:created xsi:type="dcterms:W3CDTF">2006-08-16T00:00:00Z</dcterms:created>
  <dcterms:modified xsi:type="dcterms:W3CDTF">2026-09-11T16:25:23Z</dcterms:modified>
  <dc:identifier>DAHU5uU-pDw</dc:identifier>
</cp:coreProperties>
</file>